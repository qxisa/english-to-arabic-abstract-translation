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rimo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A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80AB44-DA57-4209-AC0E-DD75050A0100}" v="69" dt="2026-04-29T14:30:39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ak mohamed hassan" userId="6a195baa-22d2-4839-9b7c-cc33219198a1" providerId="ADAL" clId="{8755745A-5FD5-4DC9-A82C-24B13E7F830D}"/>
    <pc:docChg chg="undo custSel modSld">
      <pc:chgData name="malak mohamed hassan" userId="6a195baa-22d2-4839-9b7c-cc33219198a1" providerId="ADAL" clId="{8755745A-5FD5-4DC9-A82C-24B13E7F830D}" dt="2026-04-26T18:34:51.436" v="66"/>
      <pc:docMkLst>
        <pc:docMk/>
      </pc:docMkLst>
      <pc:sldChg chg="addSp modSp mod">
        <pc:chgData name="malak mohamed hassan" userId="6a195baa-22d2-4839-9b7c-cc33219198a1" providerId="ADAL" clId="{8755745A-5FD5-4DC9-A82C-24B13E7F830D}" dt="2026-04-26T18:29:27.260" v="3" actId="1038"/>
        <pc:sldMkLst>
          <pc:docMk/>
          <pc:sldMk cId="0" sldId="257"/>
        </pc:sldMkLst>
        <pc:spChg chg="mod">
          <ac:chgData name="malak mohamed hassan" userId="6a195baa-22d2-4839-9b7c-cc33219198a1" providerId="ADAL" clId="{8755745A-5FD5-4DC9-A82C-24B13E7F830D}" dt="2026-04-26T18:29:27.260" v="3" actId="1038"/>
          <ac:spMkLst>
            <pc:docMk/>
            <pc:sldMk cId="0" sldId="257"/>
            <ac:spMk id="14" creationId="{00000000-0000-0000-0000-000000000000}"/>
          </ac:spMkLst>
        </pc:spChg>
        <pc:spChg chg="add mod">
          <ac:chgData name="malak mohamed hassan" userId="6a195baa-22d2-4839-9b7c-cc33219198a1" providerId="ADAL" clId="{8755745A-5FD5-4DC9-A82C-24B13E7F830D}" dt="2026-04-26T18:29:19.387" v="2" actId="2085"/>
          <ac:spMkLst>
            <pc:docMk/>
            <pc:sldMk cId="0" sldId="257"/>
            <ac:spMk id="18" creationId="{A11D4921-CD62-BF1D-0667-463C26B96E6E}"/>
          </ac:spMkLst>
        </pc:spChg>
      </pc:sldChg>
      <pc:sldChg chg="addSp modSp">
        <pc:chgData name="malak mohamed hassan" userId="6a195baa-22d2-4839-9b7c-cc33219198a1" providerId="ADAL" clId="{8755745A-5FD5-4DC9-A82C-24B13E7F830D}" dt="2026-04-26T18:29:32.067" v="4"/>
        <pc:sldMkLst>
          <pc:docMk/>
          <pc:sldMk cId="0" sldId="258"/>
        </pc:sldMkLst>
        <pc:spChg chg="add mod">
          <ac:chgData name="malak mohamed hassan" userId="6a195baa-22d2-4839-9b7c-cc33219198a1" providerId="ADAL" clId="{8755745A-5FD5-4DC9-A82C-24B13E7F830D}" dt="2026-04-26T18:29:32.067" v="4"/>
          <ac:spMkLst>
            <pc:docMk/>
            <pc:sldMk cId="0" sldId="258"/>
            <ac:spMk id="7" creationId="{DCECBDC4-A95F-026A-9260-88908C9CD6B9}"/>
          </ac:spMkLst>
        </pc:spChg>
      </pc:sldChg>
      <pc:sldChg chg="addSp modSp">
        <pc:chgData name="malak mohamed hassan" userId="6a195baa-22d2-4839-9b7c-cc33219198a1" providerId="ADAL" clId="{8755745A-5FD5-4DC9-A82C-24B13E7F830D}" dt="2026-04-26T18:29:35.232" v="5"/>
        <pc:sldMkLst>
          <pc:docMk/>
          <pc:sldMk cId="0" sldId="259"/>
        </pc:sldMkLst>
        <pc:spChg chg="add mod">
          <ac:chgData name="malak mohamed hassan" userId="6a195baa-22d2-4839-9b7c-cc33219198a1" providerId="ADAL" clId="{8755745A-5FD5-4DC9-A82C-24B13E7F830D}" dt="2026-04-26T18:29:35.232" v="5"/>
          <ac:spMkLst>
            <pc:docMk/>
            <pc:sldMk cId="0" sldId="259"/>
            <ac:spMk id="9" creationId="{6FD678C1-14B5-9583-7912-AF6CDAD7E4D5}"/>
          </ac:spMkLst>
        </pc:spChg>
      </pc:sldChg>
      <pc:sldChg chg="addSp modSp">
        <pc:chgData name="malak mohamed hassan" userId="6a195baa-22d2-4839-9b7c-cc33219198a1" providerId="ADAL" clId="{8755745A-5FD5-4DC9-A82C-24B13E7F830D}" dt="2026-04-26T18:29:36.852" v="6"/>
        <pc:sldMkLst>
          <pc:docMk/>
          <pc:sldMk cId="0" sldId="260"/>
        </pc:sldMkLst>
        <pc:spChg chg="add mod">
          <ac:chgData name="malak mohamed hassan" userId="6a195baa-22d2-4839-9b7c-cc33219198a1" providerId="ADAL" clId="{8755745A-5FD5-4DC9-A82C-24B13E7F830D}" dt="2026-04-26T18:29:36.852" v="6"/>
          <ac:spMkLst>
            <pc:docMk/>
            <pc:sldMk cId="0" sldId="260"/>
            <ac:spMk id="14" creationId="{A20C5EC3-FAC5-A176-DED7-6EBD09C3DD59}"/>
          </ac:spMkLst>
        </pc:spChg>
      </pc:sldChg>
      <pc:sldChg chg="addSp modSp">
        <pc:chgData name="malak mohamed hassan" userId="6a195baa-22d2-4839-9b7c-cc33219198a1" providerId="ADAL" clId="{8755745A-5FD5-4DC9-A82C-24B13E7F830D}" dt="2026-04-26T18:29:38.481" v="7"/>
        <pc:sldMkLst>
          <pc:docMk/>
          <pc:sldMk cId="0" sldId="261"/>
        </pc:sldMkLst>
        <pc:spChg chg="add mod">
          <ac:chgData name="malak mohamed hassan" userId="6a195baa-22d2-4839-9b7c-cc33219198a1" providerId="ADAL" clId="{8755745A-5FD5-4DC9-A82C-24B13E7F830D}" dt="2026-04-26T18:29:38.481" v="7"/>
          <ac:spMkLst>
            <pc:docMk/>
            <pc:sldMk cId="0" sldId="261"/>
            <ac:spMk id="14" creationId="{89821BBE-5A81-4A9C-F81B-D9C75B60BA2F}"/>
          </ac:spMkLst>
        </pc:spChg>
      </pc:sldChg>
      <pc:sldChg chg="addSp modSp mod">
        <pc:chgData name="malak mohamed hassan" userId="6a195baa-22d2-4839-9b7c-cc33219198a1" providerId="ADAL" clId="{8755745A-5FD5-4DC9-A82C-24B13E7F830D}" dt="2026-04-26T18:34:32.620" v="58" actId="14100"/>
        <pc:sldMkLst>
          <pc:docMk/>
          <pc:sldMk cId="0" sldId="262"/>
        </pc:sldMkLst>
        <pc:spChg chg="mod">
          <ac:chgData name="malak mohamed hassan" userId="6a195baa-22d2-4839-9b7c-cc33219198a1" providerId="ADAL" clId="{8755745A-5FD5-4DC9-A82C-24B13E7F830D}" dt="2026-04-26T18:30:57.048" v="13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alak mohamed hassan" userId="6a195baa-22d2-4839-9b7c-cc33219198a1" providerId="ADAL" clId="{8755745A-5FD5-4DC9-A82C-24B13E7F830D}" dt="2026-04-26T18:34:08.003" v="53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malak mohamed hassan" userId="6a195baa-22d2-4839-9b7c-cc33219198a1" providerId="ADAL" clId="{8755745A-5FD5-4DC9-A82C-24B13E7F830D}" dt="2026-04-26T18:33:52.132" v="50" actId="255"/>
          <ac:spMkLst>
            <pc:docMk/>
            <pc:sldMk cId="0" sldId="262"/>
            <ac:spMk id="6" creationId="{00000000-0000-0000-0000-000000000000}"/>
          </ac:spMkLst>
        </pc:spChg>
        <pc:spChg chg="mod">
          <ac:chgData name="malak mohamed hassan" userId="6a195baa-22d2-4839-9b7c-cc33219198a1" providerId="ADAL" clId="{8755745A-5FD5-4DC9-A82C-24B13E7F830D}" dt="2026-04-26T18:33:52.132" v="50" actId="255"/>
          <ac:spMkLst>
            <pc:docMk/>
            <pc:sldMk cId="0" sldId="262"/>
            <ac:spMk id="7" creationId="{00000000-0000-0000-0000-000000000000}"/>
          </ac:spMkLst>
        </pc:spChg>
        <pc:spChg chg="mod">
          <ac:chgData name="malak mohamed hassan" userId="6a195baa-22d2-4839-9b7c-cc33219198a1" providerId="ADAL" clId="{8755745A-5FD5-4DC9-A82C-24B13E7F830D}" dt="2026-04-26T18:34:23.557" v="56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malak mohamed hassan" userId="6a195baa-22d2-4839-9b7c-cc33219198a1" providerId="ADAL" clId="{8755745A-5FD5-4DC9-A82C-24B13E7F830D}" dt="2026-04-26T18:33:52.132" v="50" actId="255"/>
          <ac:spMkLst>
            <pc:docMk/>
            <pc:sldMk cId="0" sldId="262"/>
            <ac:spMk id="9" creationId="{00000000-0000-0000-0000-000000000000}"/>
          </ac:spMkLst>
        </pc:spChg>
        <pc:spChg chg="mod">
          <ac:chgData name="malak mohamed hassan" userId="6a195baa-22d2-4839-9b7c-cc33219198a1" providerId="ADAL" clId="{8755745A-5FD5-4DC9-A82C-24B13E7F830D}" dt="2026-04-26T18:33:52.132" v="50" actId="25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malak mohamed hassan" userId="6a195baa-22d2-4839-9b7c-cc33219198a1" providerId="ADAL" clId="{8755745A-5FD5-4DC9-A82C-24B13E7F830D}" dt="2026-04-26T18:34:32.620" v="58" actId="1410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malak mohamed hassan" userId="6a195baa-22d2-4839-9b7c-cc33219198a1" providerId="ADAL" clId="{8755745A-5FD5-4DC9-A82C-24B13E7F830D}" dt="2026-04-26T18:33:52.132" v="50" actId="255"/>
          <ac:spMkLst>
            <pc:docMk/>
            <pc:sldMk cId="0" sldId="262"/>
            <ac:spMk id="12" creationId="{00000000-0000-0000-0000-000000000000}"/>
          </ac:spMkLst>
        </pc:spChg>
        <pc:spChg chg="mod">
          <ac:chgData name="malak mohamed hassan" userId="6a195baa-22d2-4839-9b7c-cc33219198a1" providerId="ADAL" clId="{8755745A-5FD5-4DC9-A82C-24B13E7F830D}" dt="2026-04-26T18:33:52.132" v="50" actId="255"/>
          <ac:spMkLst>
            <pc:docMk/>
            <pc:sldMk cId="0" sldId="262"/>
            <ac:spMk id="13" creationId="{00000000-0000-0000-0000-000000000000}"/>
          </ac:spMkLst>
        </pc:spChg>
        <pc:spChg chg="add mod">
          <ac:chgData name="malak mohamed hassan" userId="6a195baa-22d2-4839-9b7c-cc33219198a1" providerId="ADAL" clId="{8755745A-5FD5-4DC9-A82C-24B13E7F830D}" dt="2026-04-26T18:29:40.052" v="8"/>
          <ac:spMkLst>
            <pc:docMk/>
            <pc:sldMk cId="0" sldId="262"/>
            <ac:spMk id="14" creationId="{DA832570-F22B-3614-C29F-5A74A679C94F}"/>
          </ac:spMkLst>
        </pc:spChg>
        <pc:picChg chg="mod">
          <ac:chgData name="malak mohamed hassan" userId="6a195baa-22d2-4839-9b7c-cc33219198a1" providerId="ADAL" clId="{8755745A-5FD5-4DC9-A82C-24B13E7F830D}" dt="2026-04-26T18:33:29.132" v="41" actId="14100"/>
          <ac:picMkLst>
            <pc:docMk/>
            <pc:sldMk cId="0" sldId="262"/>
            <ac:picMk id="3" creationId="{00000000-0000-0000-0000-000000000000}"/>
          </ac:picMkLst>
        </pc:picChg>
        <pc:picChg chg="mod">
          <ac:chgData name="malak mohamed hassan" userId="6a195baa-22d2-4839-9b7c-cc33219198a1" providerId="ADAL" clId="{8755745A-5FD5-4DC9-A82C-24B13E7F830D}" dt="2026-04-26T18:33:30.313" v="43" actId="14100"/>
          <ac:picMkLst>
            <pc:docMk/>
            <pc:sldMk cId="0" sldId="262"/>
            <ac:picMk id="4" creationId="{00000000-0000-0000-0000-000000000000}"/>
          </ac:picMkLst>
        </pc:picChg>
      </pc:sldChg>
      <pc:sldChg chg="addSp modSp">
        <pc:chgData name="malak mohamed hassan" userId="6a195baa-22d2-4839-9b7c-cc33219198a1" providerId="ADAL" clId="{8755745A-5FD5-4DC9-A82C-24B13E7F830D}" dt="2026-04-26T18:34:40.512" v="59"/>
        <pc:sldMkLst>
          <pc:docMk/>
          <pc:sldMk cId="0" sldId="263"/>
        </pc:sldMkLst>
        <pc:spChg chg="add mod">
          <ac:chgData name="malak mohamed hassan" userId="6a195baa-22d2-4839-9b7c-cc33219198a1" providerId="ADAL" clId="{8755745A-5FD5-4DC9-A82C-24B13E7F830D}" dt="2026-04-26T18:34:40.512" v="59"/>
          <ac:spMkLst>
            <pc:docMk/>
            <pc:sldMk cId="0" sldId="263"/>
            <ac:spMk id="25" creationId="{3EFFA3FC-73C4-30E3-0D5B-940C72704364}"/>
          </ac:spMkLst>
        </pc:spChg>
      </pc:sldChg>
      <pc:sldChg chg="addSp modSp mod">
        <pc:chgData name="malak mohamed hassan" userId="6a195baa-22d2-4839-9b7c-cc33219198a1" providerId="ADAL" clId="{8755745A-5FD5-4DC9-A82C-24B13E7F830D}" dt="2026-04-26T18:34:49.118" v="65"/>
        <pc:sldMkLst>
          <pc:docMk/>
          <pc:sldMk cId="0" sldId="264"/>
        </pc:sldMkLst>
        <pc:spChg chg="add mod">
          <ac:chgData name="malak mohamed hassan" userId="6a195baa-22d2-4839-9b7c-cc33219198a1" providerId="ADAL" clId="{8755745A-5FD5-4DC9-A82C-24B13E7F830D}" dt="2026-04-26T18:34:49.118" v="65"/>
          <ac:spMkLst>
            <pc:docMk/>
            <pc:sldMk cId="0" sldId="264"/>
            <ac:spMk id="28" creationId="{CE799CF7-0B6A-E680-5A94-B9666C5D0FA9}"/>
          </ac:spMkLst>
        </pc:spChg>
      </pc:sldChg>
      <pc:sldChg chg="addSp modSp">
        <pc:chgData name="malak mohamed hassan" userId="6a195baa-22d2-4839-9b7c-cc33219198a1" providerId="ADAL" clId="{8755745A-5FD5-4DC9-A82C-24B13E7F830D}" dt="2026-04-26T18:34:51.436" v="66"/>
        <pc:sldMkLst>
          <pc:docMk/>
          <pc:sldMk cId="0" sldId="265"/>
        </pc:sldMkLst>
        <pc:spChg chg="add mod">
          <ac:chgData name="malak mohamed hassan" userId="6a195baa-22d2-4839-9b7c-cc33219198a1" providerId="ADAL" clId="{8755745A-5FD5-4DC9-A82C-24B13E7F830D}" dt="2026-04-26T18:34:51.436" v="66"/>
          <ac:spMkLst>
            <pc:docMk/>
            <pc:sldMk cId="0" sldId="265"/>
            <ac:spMk id="22" creationId="{BAB9560E-47F1-1B99-4272-54246AC4A456}"/>
          </ac:spMkLst>
        </pc:spChg>
      </pc:sldChg>
    </pc:docChg>
  </pc:docChgLst>
  <pc:docChgLst>
    <pc:chgData name="malak mohamed hassan" userId="S::m.hassan2247@nu.edu.eg::6a195baa-22d2-4839-9b7c-cc33219198a1" providerId="AD" clId="Web-{7D80AB44-DA57-4209-AC0E-DD75050A0100}"/>
    <pc:docChg chg="modSld">
      <pc:chgData name="malak mohamed hassan" userId="S::m.hassan2247@nu.edu.eg::6a195baa-22d2-4839-9b7c-cc33219198a1" providerId="AD" clId="Web-{7D80AB44-DA57-4209-AC0E-DD75050A0100}" dt="2026-04-29T14:30:39.034" v="68" actId="20577"/>
      <pc:docMkLst>
        <pc:docMk/>
      </pc:docMkLst>
      <pc:sldChg chg="addSp delSp modSp">
        <pc:chgData name="malak mohamed hassan" userId="S::m.hassan2247@nu.edu.eg::6a195baa-22d2-4839-9b7c-cc33219198a1" providerId="AD" clId="Web-{7D80AB44-DA57-4209-AC0E-DD75050A0100}" dt="2026-04-29T14:30:39.034" v="68" actId="20577"/>
        <pc:sldMkLst>
          <pc:docMk/>
          <pc:sldMk cId="0" sldId="263"/>
        </pc:sldMkLst>
        <pc:spChg chg="mod">
          <ac:chgData name="malak mohamed hassan" userId="S::m.hassan2247@nu.edu.eg::6a195baa-22d2-4839-9b7c-cc33219198a1" providerId="AD" clId="Web-{7D80AB44-DA57-4209-AC0E-DD75050A0100}" dt="2026-04-29T14:27:25.388" v="13" actId="107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malak mohamed hassan" userId="S::m.hassan2247@nu.edu.eg::6a195baa-22d2-4839-9b7c-cc33219198a1" providerId="AD" clId="Web-{7D80AB44-DA57-4209-AC0E-DD75050A0100}" dt="2026-04-29T14:30:39.034" v="68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malak mohamed hassan" userId="S::m.hassan2247@nu.edu.eg::6a195baa-22d2-4839-9b7c-cc33219198a1" providerId="AD" clId="Web-{7D80AB44-DA57-4209-AC0E-DD75050A0100}" dt="2026-04-29T14:27:13.060" v="12" actId="1076"/>
          <ac:spMkLst>
            <pc:docMk/>
            <pc:sldMk cId="0" sldId="263"/>
            <ac:spMk id="21" creationId="{00000000-0000-0000-0000-000000000000}"/>
          </ac:spMkLst>
        </pc:spChg>
        <pc:spChg chg="mod">
          <ac:chgData name="malak mohamed hassan" userId="S::m.hassan2247@nu.edu.eg::6a195baa-22d2-4839-9b7c-cc33219198a1" providerId="AD" clId="Web-{7D80AB44-DA57-4209-AC0E-DD75050A0100}" dt="2026-04-29T14:27:09.700" v="9" actId="107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malak mohamed hassan" userId="S::m.hassan2247@nu.edu.eg::6a195baa-22d2-4839-9b7c-cc33219198a1" providerId="AD" clId="Web-{7D80AB44-DA57-4209-AC0E-DD75050A0100}" dt="2026-04-29T14:27:09.763" v="10" actId="107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malak mohamed hassan" userId="S::m.hassan2247@nu.edu.eg::6a195baa-22d2-4839-9b7c-cc33219198a1" providerId="AD" clId="Web-{7D80AB44-DA57-4209-AC0E-DD75050A0100}" dt="2026-04-29T14:30:23.830" v="47" actId="20577"/>
          <ac:spMkLst>
            <pc:docMk/>
            <pc:sldMk cId="0" sldId="263"/>
            <ac:spMk id="24" creationId="{00000000-0000-0000-0000-000000000000}"/>
          </ac:spMkLst>
        </pc:spChg>
        <pc:spChg chg="add del">
          <ac:chgData name="malak mohamed hassan" userId="S::m.hassan2247@nu.edu.eg::6a195baa-22d2-4839-9b7c-cc33219198a1" providerId="AD" clId="Web-{7D80AB44-DA57-4209-AC0E-DD75050A0100}" dt="2026-04-29T14:26:55.622" v="5"/>
          <ac:spMkLst>
            <pc:docMk/>
            <pc:sldMk cId="0" sldId="263"/>
            <ac:spMk id="26" creationId="{CFD1EBD7-9652-039F-30C7-3644D208A8AA}"/>
          </ac:spMkLst>
        </pc:spChg>
        <pc:spChg chg="add del">
          <ac:chgData name="malak mohamed hassan" userId="S::m.hassan2247@nu.edu.eg::6a195baa-22d2-4839-9b7c-cc33219198a1" providerId="AD" clId="Web-{7D80AB44-DA57-4209-AC0E-DD75050A0100}" dt="2026-04-29T14:26:55.622" v="4"/>
          <ac:spMkLst>
            <pc:docMk/>
            <pc:sldMk cId="0" sldId="263"/>
            <ac:spMk id="27" creationId="{370895C3-F50D-8309-7E10-70102F4FBC94}"/>
          </ac:spMkLst>
        </pc:spChg>
        <pc:spChg chg="add del">
          <ac:chgData name="malak mohamed hassan" userId="S::m.hassan2247@nu.edu.eg::6a195baa-22d2-4839-9b7c-cc33219198a1" providerId="AD" clId="Web-{7D80AB44-DA57-4209-AC0E-DD75050A0100}" dt="2026-04-29T14:26:55.622" v="3"/>
          <ac:spMkLst>
            <pc:docMk/>
            <pc:sldMk cId="0" sldId="263"/>
            <ac:spMk id="28" creationId="{9BE2D7F3-9705-44E4-9D7B-F670C1E3666E}"/>
          </ac:spMkLst>
        </pc:spChg>
      </pc:sldChg>
      <pc:sldChg chg="modSp">
        <pc:chgData name="malak mohamed hassan" userId="S::m.hassan2247@nu.edu.eg::6a195baa-22d2-4839-9b7c-cc33219198a1" providerId="AD" clId="Web-{7D80AB44-DA57-4209-AC0E-DD75050A0100}" dt="2026-04-29T14:28:54.813" v="28" actId="20577"/>
        <pc:sldMkLst>
          <pc:docMk/>
          <pc:sldMk cId="0" sldId="265"/>
        </pc:sldMkLst>
        <pc:spChg chg="mod">
          <ac:chgData name="malak mohamed hassan" userId="S::m.hassan2247@nu.edu.eg::6a195baa-22d2-4839-9b7c-cc33219198a1" providerId="AD" clId="Web-{7D80AB44-DA57-4209-AC0E-DD75050A0100}" dt="2026-04-29T14:28:54.813" v="28" actId="20577"/>
          <ac:spMkLst>
            <pc:docMk/>
            <pc:sldMk cId="0" sldId="265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428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287905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Advanced Scientific Translation for Arabic Abstracts</a:t>
            </a:r>
            <a:endParaRPr lang="en-US" sz="4400"/>
          </a:p>
        </p:txBody>
      </p:sp>
      <p:sp>
        <p:nvSpPr>
          <p:cNvPr id="4" name="Text 1"/>
          <p:cNvSpPr/>
          <p:nvPr/>
        </p:nvSpPr>
        <p:spPr>
          <a:xfrm>
            <a:off x="837724" y="4495681"/>
            <a:ext cx="746855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Phase 1: Exploration, Preprocessing &amp; Methodology</a:t>
            </a:r>
            <a:endParaRPr lang="en-US" sz="2200"/>
          </a:p>
        </p:txBody>
      </p:sp>
      <p:sp>
        <p:nvSpPr>
          <p:cNvPr id="5" name="Text 2"/>
          <p:cNvSpPr/>
          <p:nvPr/>
        </p:nvSpPr>
        <p:spPr>
          <a:xfrm>
            <a:off x="837724" y="5558552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ASCAT Dataset | English-to-Arabic Scientific Machine Translation</a:t>
            </a:r>
            <a:endParaRPr lang="en-US" sz="1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2" y="2717840"/>
            <a:ext cx="5321737" cy="279392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62305" y="514469"/>
            <a:ext cx="3872270" cy="483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b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Dataset Overview</a:t>
            </a:r>
            <a:endParaRPr lang="en-US" sz="3000"/>
          </a:p>
        </p:txBody>
      </p:sp>
      <p:sp>
        <p:nvSpPr>
          <p:cNvPr id="5" name="Text 1"/>
          <p:cNvSpPr/>
          <p:nvPr/>
        </p:nvSpPr>
        <p:spPr>
          <a:xfrm>
            <a:off x="6062305" y="1250394"/>
            <a:ext cx="7992189" cy="543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42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536</a:t>
            </a:r>
            <a:endParaRPr lang="en-US" sz="4250"/>
          </a:p>
        </p:txBody>
      </p:sp>
      <p:sp>
        <p:nvSpPr>
          <p:cNvPr id="6" name="Text 2"/>
          <p:cNvSpPr/>
          <p:nvPr/>
        </p:nvSpPr>
        <p:spPr>
          <a:xfrm>
            <a:off x="9090303" y="1960483"/>
            <a:ext cx="1936075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Parallel Pairs</a:t>
            </a:r>
            <a:endParaRPr lang="en-US" sz="1500"/>
          </a:p>
        </p:txBody>
      </p:sp>
      <p:sp>
        <p:nvSpPr>
          <p:cNvPr id="7" name="Text 3"/>
          <p:cNvSpPr/>
          <p:nvPr/>
        </p:nvSpPr>
        <p:spPr>
          <a:xfrm>
            <a:off x="6062305" y="2270284"/>
            <a:ext cx="799218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English-Arabic scientific abstracts</a:t>
            </a:r>
            <a:endParaRPr lang="en-US" sz="1250"/>
          </a:p>
        </p:txBody>
      </p:sp>
      <p:sp>
        <p:nvSpPr>
          <p:cNvPr id="8" name="Text 4"/>
          <p:cNvSpPr/>
          <p:nvPr/>
        </p:nvSpPr>
        <p:spPr>
          <a:xfrm>
            <a:off x="6062305" y="2800826"/>
            <a:ext cx="7992189" cy="543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42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8</a:t>
            </a:r>
            <a:endParaRPr lang="en-US" sz="4250"/>
          </a:p>
        </p:txBody>
      </p:sp>
      <p:sp>
        <p:nvSpPr>
          <p:cNvPr id="9" name="Text 5"/>
          <p:cNvSpPr/>
          <p:nvPr/>
        </p:nvSpPr>
        <p:spPr>
          <a:xfrm>
            <a:off x="9090303" y="3510915"/>
            <a:ext cx="1936075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Features</a:t>
            </a:r>
            <a:endParaRPr lang="en-US" sz="1500"/>
          </a:p>
        </p:txBody>
      </p:sp>
      <p:sp>
        <p:nvSpPr>
          <p:cNvPr id="10" name="Text 6"/>
          <p:cNvSpPr/>
          <p:nvPr/>
        </p:nvSpPr>
        <p:spPr>
          <a:xfrm>
            <a:off x="6062305" y="3820716"/>
            <a:ext cx="799218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Source/target abstracts, counts, metadata</a:t>
            </a:r>
            <a:endParaRPr lang="en-US" sz="1250"/>
          </a:p>
        </p:txBody>
      </p:sp>
      <p:sp>
        <p:nvSpPr>
          <p:cNvPr id="11" name="Text 7"/>
          <p:cNvSpPr/>
          <p:nvPr/>
        </p:nvSpPr>
        <p:spPr>
          <a:xfrm>
            <a:off x="6062305" y="4351258"/>
            <a:ext cx="7992189" cy="543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42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5</a:t>
            </a:r>
            <a:endParaRPr lang="en-US" sz="4250"/>
          </a:p>
        </p:txBody>
      </p:sp>
      <p:sp>
        <p:nvSpPr>
          <p:cNvPr id="12" name="Text 8"/>
          <p:cNvSpPr/>
          <p:nvPr/>
        </p:nvSpPr>
        <p:spPr>
          <a:xfrm>
            <a:off x="9090303" y="5061347"/>
            <a:ext cx="1936075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Domains</a:t>
            </a:r>
            <a:endParaRPr lang="en-US" sz="1500"/>
          </a:p>
        </p:txBody>
      </p:sp>
      <p:sp>
        <p:nvSpPr>
          <p:cNvPr id="13" name="Text 9"/>
          <p:cNvSpPr/>
          <p:nvPr/>
        </p:nvSpPr>
        <p:spPr>
          <a:xfrm>
            <a:off x="6062305" y="5371148"/>
            <a:ext cx="799218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Physics, Math, CS, Quantum, AI</a:t>
            </a:r>
            <a:endParaRPr lang="en-US" sz="1250"/>
          </a:p>
        </p:txBody>
      </p:sp>
      <p:sp>
        <p:nvSpPr>
          <p:cNvPr id="14" name="Text 10"/>
          <p:cNvSpPr/>
          <p:nvPr/>
        </p:nvSpPr>
        <p:spPr>
          <a:xfrm>
            <a:off x="6072696" y="5901690"/>
            <a:ext cx="7992189" cy="543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42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0</a:t>
            </a:r>
            <a:endParaRPr lang="en-US" sz="4250"/>
          </a:p>
        </p:txBody>
      </p:sp>
      <p:sp>
        <p:nvSpPr>
          <p:cNvPr id="15" name="Text 11"/>
          <p:cNvSpPr/>
          <p:nvPr/>
        </p:nvSpPr>
        <p:spPr>
          <a:xfrm>
            <a:off x="9090303" y="6611779"/>
            <a:ext cx="1936075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Missing Values</a:t>
            </a:r>
            <a:endParaRPr lang="en-US" sz="1500"/>
          </a:p>
        </p:txBody>
      </p:sp>
      <p:sp>
        <p:nvSpPr>
          <p:cNvPr id="16" name="Text 12"/>
          <p:cNvSpPr/>
          <p:nvPr/>
        </p:nvSpPr>
        <p:spPr>
          <a:xfrm>
            <a:off x="6062305" y="6921579"/>
            <a:ext cx="799218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Complete dataset</a:t>
            </a:r>
            <a:endParaRPr lang="en-US" sz="1250"/>
          </a:p>
        </p:txBody>
      </p:sp>
      <p:sp>
        <p:nvSpPr>
          <p:cNvPr id="17" name="Text 13"/>
          <p:cNvSpPr/>
          <p:nvPr/>
        </p:nvSpPr>
        <p:spPr>
          <a:xfrm>
            <a:off x="6062305" y="7270909"/>
            <a:ext cx="7992189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 arXiv papers (Sibaee et al., 2026). Average English length: 125 words. Average Arabic length: 112 words.</a:t>
            </a:r>
            <a:endParaRPr lang="en-US" sz="12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1D4921-CD62-BF1D-0667-463C26B96E6E}"/>
              </a:ext>
            </a:extLst>
          </p:cNvPr>
          <p:cNvSpPr/>
          <p:nvPr/>
        </p:nvSpPr>
        <p:spPr>
          <a:xfrm>
            <a:off x="12760036" y="7715012"/>
            <a:ext cx="1766455" cy="444103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78035"/>
            <a:ext cx="618636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Domain Distribution</a:t>
            </a:r>
            <a:endParaRPr lang="en-US" sz="44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810357"/>
            <a:ext cx="4154686" cy="16716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83912" y="3680341"/>
            <a:ext cx="331374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Imbalance Challenge</a:t>
            </a:r>
            <a:endParaRPr lang="en-US" sz="2200"/>
          </a:p>
        </p:txBody>
      </p:sp>
      <p:sp>
        <p:nvSpPr>
          <p:cNvPr id="5" name="Text 2"/>
          <p:cNvSpPr/>
          <p:nvPr/>
        </p:nvSpPr>
        <p:spPr>
          <a:xfrm>
            <a:off x="5583912" y="4271605"/>
            <a:ext cx="821626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Physics dominates at 58.7% (313 abstracts). Other: 84, Mathematics: 75, Computer Science: 33, Quantum Mechanics: 28.</a:t>
            </a:r>
            <a:endParaRPr lang="en-US" sz="1850"/>
          </a:p>
        </p:txBody>
      </p:sp>
      <p:sp>
        <p:nvSpPr>
          <p:cNvPr id="6" name="Text 3"/>
          <p:cNvSpPr/>
          <p:nvPr/>
        </p:nvSpPr>
        <p:spPr>
          <a:xfrm>
            <a:off x="5583912" y="5253038"/>
            <a:ext cx="821626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imbalance requires preprocessing to ensure balanced training data.</a:t>
            </a:r>
            <a:endParaRPr lang="en-US" sz="18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ECBDC4-A95F-026A-9260-88908C9CD6B9}"/>
              </a:ext>
            </a:extLst>
          </p:cNvPr>
          <p:cNvSpPr/>
          <p:nvPr/>
        </p:nvSpPr>
        <p:spPr>
          <a:xfrm>
            <a:off x="12760036" y="7715012"/>
            <a:ext cx="1766455" cy="444103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6987" y="543401"/>
            <a:ext cx="4633793" cy="516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Text Length Analysis</a:t>
            </a:r>
            <a:endParaRPr lang="en-US" sz="3250"/>
          </a:p>
        </p:txBody>
      </p:sp>
      <p:sp>
        <p:nvSpPr>
          <p:cNvPr id="3" name="Text 1"/>
          <p:cNvSpPr/>
          <p:nvPr/>
        </p:nvSpPr>
        <p:spPr>
          <a:xfrm>
            <a:off x="1606987" y="1383030"/>
            <a:ext cx="2068116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English Abstracts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1606987" y="1770578"/>
            <a:ext cx="5493663" cy="1110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Mean: 125 words</a:t>
            </a:r>
            <a:endParaRPr lang="en-US" sz="135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Median: 113 words</a:t>
            </a:r>
            <a:endParaRPr lang="en-US" sz="135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Range: 3-297 words</a:t>
            </a:r>
            <a:endParaRPr lang="en-US" sz="135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Right-skewed distribution</a:t>
            </a:r>
            <a:endParaRPr lang="en-US" sz="1350"/>
          </a:p>
        </p:txBody>
      </p:sp>
      <p:sp>
        <p:nvSpPr>
          <p:cNvPr id="5" name="Text 3"/>
          <p:cNvSpPr/>
          <p:nvPr/>
        </p:nvSpPr>
        <p:spPr>
          <a:xfrm>
            <a:off x="7537133" y="1383030"/>
            <a:ext cx="2068116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Arabic Abstracts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7537133" y="1770578"/>
            <a:ext cx="5493663" cy="1110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Mean: 112 words</a:t>
            </a:r>
            <a:endParaRPr lang="en-US" sz="135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Median: 100 words</a:t>
            </a:r>
            <a:endParaRPr lang="en-US" sz="135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Range: 4-315 words</a:t>
            </a:r>
            <a:endParaRPr lang="en-US" sz="135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~90% of English length</a:t>
            </a:r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1606987" y="3071098"/>
            <a:ext cx="11416308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Most abstracts fall between 50-200 words. Arabic consistently shorter due to morphological richness.</a:t>
            </a:r>
            <a:endParaRPr lang="en-US" sz="135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987" y="3459956"/>
            <a:ext cx="11416308" cy="42261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FD678C1-14B5-9583-7912-AF6CDAD7E4D5}"/>
              </a:ext>
            </a:extLst>
          </p:cNvPr>
          <p:cNvSpPr/>
          <p:nvPr/>
        </p:nvSpPr>
        <p:spPr>
          <a:xfrm>
            <a:off x="12760036" y="7715012"/>
            <a:ext cx="1766455" cy="444103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455" y="653177"/>
            <a:ext cx="7735253" cy="659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b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Cross-Lingual Comparison</a:t>
            </a:r>
            <a:endParaRPr lang="en-US" sz="4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55" y="1865233"/>
            <a:ext cx="6256020" cy="231862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55" y="4420433"/>
            <a:ext cx="6256020" cy="2334101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596545" y="1865233"/>
            <a:ext cx="6256020" cy="1684615"/>
          </a:xfrm>
          <a:prstGeom prst="roundRect">
            <a:avLst>
              <a:gd name="adj" fmla="val 1998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7820858" y="2089547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Strong Correlation</a:t>
            </a:r>
            <a:endParaRPr lang="en-US" sz="2050"/>
          </a:p>
        </p:txBody>
      </p:sp>
      <p:sp>
        <p:nvSpPr>
          <p:cNvPr id="7" name="Text 3"/>
          <p:cNvSpPr/>
          <p:nvPr/>
        </p:nvSpPr>
        <p:spPr>
          <a:xfrm>
            <a:off x="7820858" y="2629972"/>
            <a:ext cx="5807393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Linear relationship between EN and AR word counts across domains</a:t>
            </a:r>
            <a:endParaRPr lang="en-US" sz="1750"/>
          </a:p>
        </p:txBody>
      </p:sp>
      <p:sp>
        <p:nvSpPr>
          <p:cNvPr id="8" name="Shape 4"/>
          <p:cNvSpPr/>
          <p:nvPr/>
        </p:nvSpPr>
        <p:spPr>
          <a:xfrm>
            <a:off x="7596545" y="3760232"/>
            <a:ext cx="6256020" cy="1684615"/>
          </a:xfrm>
          <a:prstGeom prst="roundRect">
            <a:avLst>
              <a:gd name="adj" fmla="val 1998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820858" y="3984546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~10% Fewer Words</a:t>
            </a:r>
            <a:endParaRPr lang="en-US" sz="2050"/>
          </a:p>
        </p:txBody>
      </p:sp>
      <p:sp>
        <p:nvSpPr>
          <p:cNvPr id="10" name="Text 6"/>
          <p:cNvSpPr/>
          <p:nvPr/>
        </p:nvSpPr>
        <p:spPr>
          <a:xfrm>
            <a:off x="7820858" y="4524970"/>
            <a:ext cx="5807393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Arabic abstracts use ~10% fewer words than English equivalents</a:t>
            </a:r>
            <a:endParaRPr lang="en-US" sz="1750"/>
          </a:p>
        </p:txBody>
      </p:sp>
      <p:sp>
        <p:nvSpPr>
          <p:cNvPr id="11" name="Shape 7"/>
          <p:cNvSpPr/>
          <p:nvPr/>
        </p:nvSpPr>
        <p:spPr>
          <a:xfrm>
            <a:off x="7596545" y="5655231"/>
            <a:ext cx="6256020" cy="1684615"/>
          </a:xfrm>
          <a:prstGeom prst="roundRect">
            <a:avLst>
              <a:gd name="adj" fmla="val 1998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820858" y="5879544"/>
            <a:ext cx="346960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Morphological Richness</a:t>
            </a:r>
            <a:endParaRPr lang="en-US" sz="2050"/>
          </a:p>
        </p:txBody>
      </p:sp>
      <p:sp>
        <p:nvSpPr>
          <p:cNvPr id="13" name="Text 9"/>
          <p:cNvSpPr/>
          <p:nvPr/>
        </p:nvSpPr>
        <p:spPr>
          <a:xfrm>
            <a:off x="7820858" y="6419969"/>
            <a:ext cx="5807393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Arabic word packs more meaning, reducing word count</a:t>
            </a:r>
            <a:endParaRPr lang="en-US" sz="17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0C5EC3-FAC5-A176-DED7-6EBD09C3DD59}"/>
              </a:ext>
            </a:extLst>
          </p:cNvPr>
          <p:cNvSpPr/>
          <p:nvPr/>
        </p:nvSpPr>
        <p:spPr>
          <a:xfrm>
            <a:off x="12760036" y="7715012"/>
            <a:ext cx="1766455" cy="444103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1649" y="759976"/>
            <a:ext cx="6009799" cy="68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b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Vocabulary Analysis</a:t>
            </a:r>
            <a:endParaRPr lang="en-US" sz="42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49" y="3088124"/>
            <a:ext cx="4025622" cy="10887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9744" y="2031563"/>
            <a:ext cx="8256508" cy="320182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811649" y="5738693"/>
            <a:ext cx="4185999" cy="1730812"/>
          </a:xfrm>
          <a:prstGeom prst="roundRect">
            <a:avLst>
              <a:gd name="adj" fmla="val 2010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1073944" y="6000988"/>
            <a:ext cx="3631168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English Dominant Terms</a:t>
            </a:r>
            <a:endParaRPr lang="en-US" sz="2100"/>
          </a:p>
        </p:txBody>
      </p:sp>
      <p:sp>
        <p:nvSpPr>
          <p:cNvPr id="7" name="Text 3"/>
          <p:cNvSpPr/>
          <p:nvPr/>
        </p:nvSpPr>
        <p:spPr>
          <a:xfrm>
            <a:off x="1073944" y="6476643"/>
            <a:ext cx="3661410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"model", "state", "results", "energy", "quantum"</a:t>
            </a:r>
            <a:endParaRPr lang="en-US" sz="1800"/>
          </a:p>
        </p:txBody>
      </p:sp>
      <p:sp>
        <p:nvSpPr>
          <p:cNvPr id="8" name="Shape 4"/>
          <p:cNvSpPr/>
          <p:nvPr/>
        </p:nvSpPr>
        <p:spPr>
          <a:xfrm>
            <a:off x="5222200" y="5738693"/>
            <a:ext cx="4185999" cy="1730812"/>
          </a:xfrm>
          <a:prstGeom prst="roundRect">
            <a:avLst>
              <a:gd name="adj" fmla="val 2010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484495" y="6000988"/>
            <a:ext cx="3430191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Arabic Scientific Terms</a:t>
            </a:r>
            <a:endParaRPr lang="en-US" sz="2100"/>
          </a:p>
        </p:txBody>
      </p:sp>
      <p:sp>
        <p:nvSpPr>
          <p:cNvPr id="10" name="Text 6"/>
          <p:cNvSpPr/>
          <p:nvPr/>
        </p:nvSpPr>
        <p:spPr>
          <a:xfrm>
            <a:off x="5484495" y="6476643"/>
            <a:ext cx="3661410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Corresponding terms appear with high frequency</a:t>
            </a:r>
            <a:endParaRPr lang="en-US" sz="1800"/>
          </a:p>
        </p:txBody>
      </p:sp>
      <p:sp>
        <p:nvSpPr>
          <p:cNvPr id="11" name="Shape 7"/>
          <p:cNvSpPr/>
          <p:nvPr/>
        </p:nvSpPr>
        <p:spPr>
          <a:xfrm>
            <a:off x="9632752" y="5738693"/>
            <a:ext cx="4185999" cy="1730812"/>
          </a:xfrm>
          <a:prstGeom prst="roundRect">
            <a:avLst>
              <a:gd name="adj" fmla="val 2010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9895046" y="6000988"/>
            <a:ext cx="3394948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Physics-Heavy Corpus</a:t>
            </a:r>
            <a:endParaRPr lang="en-US" sz="2100"/>
          </a:p>
        </p:txBody>
      </p:sp>
      <p:sp>
        <p:nvSpPr>
          <p:cNvPr id="13" name="Text 9"/>
          <p:cNvSpPr/>
          <p:nvPr/>
        </p:nvSpPr>
        <p:spPr>
          <a:xfrm>
            <a:off x="9895046" y="6476643"/>
            <a:ext cx="3661410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Top terms reflect dataset composition</a:t>
            </a:r>
            <a:endParaRPr lang="en-US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821BBE-5A81-4A9C-F81B-D9C75B60BA2F}"/>
              </a:ext>
            </a:extLst>
          </p:cNvPr>
          <p:cNvSpPr/>
          <p:nvPr/>
        </p:nvSpPr>
        <p:spPr>
          <a:xfrm>
            <a:off x="12760036" y="7715012"/>
            <a:ext cx="1766455" cy="444103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61748" y="-2635"/>
            <a:ext cx="548628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Vocabulary Richness &amp; Correlations</a:t>
            </a:r>
            <a:endParaRPr lang="en-US" sz="22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6876"/>
            <a:ext cx="7772757" cy="287738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260" y="505063"/>
            <a:ext cx="6136231" cy="53644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1261" y="5707974"/>
            <a:ext cx="426148" cy="347783"/>
          </a:xfrm>
          <a:prstGeom prst="roundRect">
            <a:avLst>
              <a:gd name="adj" fmla="val 6669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6" name="Text 2"/>
          <p:cNvSpPr/>
          <p:nvPr/>
        </p:nvSpPr>
        <p:spPr>
          <a:xfrm>
            <a:off x="630186" y="5827633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50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Higher Arabic TTR</a:t>
            </a:r>
            <a:endParaRPr lang="en-US" sz="1500"/>
          </a:p>
        </p:txBody>
      </p:sp>
      <p:sp>
        <p:nvSpPr>
          <p:cNvPr id="7" name="Text 3"/>
          <p:cNvSpPr/>
          <p:nvPr/>
        </p:nvSpPr>
        <p:spPr>
          <a:xfrm>
            <a:off x="630068" y="6080521"/>
            <a:ext cx="7443788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5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Arabic shows higher Type-Token Ratio across all domains, reflecting morphological richness. Quantum mechanics has highest TTR.</a:t>
            </a:r>
            <a:endParaRPr lang="en-US" sz="1500"/>
          </a:p>
        </p:txBody>
      </p:sp>
      <p:sp>
        <p:nvSpPr>
          <p:cNvPr id="8" name="Shape 4"/>
          <p:cNvSpPr/>
          <p:nvPr/>
        </p:nvSpPr>
        <p:spPr>
          <a:xfrm>
            <a:off x="61261" y="6265186"/>
            <a:ext cx="426148" cy="347783"/>
          </a:xfrm>
          <a:prstGeom prst="roundRect">
            <a:avLst>
              <a:gd name="adj" fmla="val 6669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9" name="Text 5"/>
          <p:cNvSpPr/>
          <p:nvPr/>
        </p:nvSpPr>
        <p:spPr>
          <a:xfrm>
            <a:off x="630186" y="6343769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50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3-8 Sentences</a:t>
            </a:r>
            <a:endParaRPr lang="en-US" sz="1500"/>
          </a:p>
        </p:txBody>
      </p:sp>
      <p:sp>
        <p:nvSpPr>
          <p:cNvPr id="10" name="Text 6"/>
          <p:cNvSpPr/>
          <p:nvPr/>
        </p:nvSpPr>
        <p:spPr>
          <a:xfrm>
            <a:off x="630068" y="6596657"/>
            <a:ext cx="7443788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5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Most abstracts contain 3-8 sentences.</a:t>
            </a:r>
            <a:endParaRPr lang="en-US" sz="1500"/>
          </a:p>
        </p:txBody>
      </p:sp>
      <p:sp>
        <p:nvSpPr>
          <p:cNvPr id="11" name="Shape 7"/>
          <p:cNvSpPr/>
          <p:nvPr/>
        </p:nvSpPr>
        <p:spPr>
          <a:xfrm>
            <a:off x="61262" y="6818828"/>
            <a:ext cx="426148" cy="347783"/>
          </a:xfrm>
          <a:prstGeom prst="roundRect">
            <a:avLst>
              <a:gd name="adj" fmla="val 6669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2" name="Text 8"/>
          <p:cNvSpPr/>
          <p:nvPr/>
        </p:nvSpPr>
        <p:spPr>
          <a:xfrm>
            <a:off x="630186" y="6859905"/>
            <a:ext cx="172307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50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High Correlation (0.95)</a:t>
            </a:r>
            <a:endParaRPr lang="en-US" sz="1500"/>
          </a:p>
        </p:txBody>
      </p:sp>
      <p:sp>
        <p:nvSpPr>
          <p:cNvPr id="13" name="Text 9"/>
          <p:cNvSpPr/>
          <p:nvPr/>
        </p:nvSpPr>
        <p:spPr>
          <a:xfrm>
            <a:off x="630068" y="7112793"/>
            <a:ext cx="7443788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5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EN-AR word counts confirm translation quality preserves abstract structure.</a:t>
            </a:r>
            <a:endParaRPr lang="en-US" sz="15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832570-F22B-3614-C29F-5A74A679C94F}"/>
              </a:ext>
            </a:extLst>
          </p:cNvPr>
          <p:cNvSpPr/>
          <p:nvPr/>
        </p:nvSpPr>
        <p:spPr>
          <a:xfrm>
            <a:off x="12760036" y="7715012"/>
            <a:ext cx="1766455" cy="444103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14324" y="519946"/>
            <a:ext cx="7482364" cy="462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Preprocessing &amp; Imbalance Handling</a:t>
            </a:r>
            <a:endParaRPr lang="en-US" sz="29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324" y="1188125"/>
            <a:ext cx="10201751" cy="37971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14324" y="5101233"/>
            <a:ext cx="314087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01</a:t>
            </a:r>
            <a:endParaRPr lang="en-US" sz="1200"/>
          </a:p>
        </p:txBody>
      </p:sp>
      <p:sp>
        <p:nvSpPr>
          <p:cNvPr id="5" name="Shape 2"/>
          <p:cNvSpPr/>
          <p:nvPr/>
        </p:nvSpPr>
        <p:spPr>
          <a:xfrm>
            <a:off x="2214324" y="5345192"/>
            <a:ext cx="3331845" cy="22860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214324" y="5469374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Text Cleaning</a:t>
            </a:r>
            <a:endParaRPr lang="en-US" sz="1450"/>
          </a:p>
        </p:txBody>
      </p:sp>
      <p:sp>
        <p:nvSpPr>
          <p:cNvPr id="7" name="Text 4"/>
          <p:cNvSpPr/>
          <p:nvPr/>
        </p:nvSpPr>
        <p:spPr>
          <a:xfrm>
            <a:off x="2214324" y="5762149"/>
            <a:ext cx="3331845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Remove noise and standardize format</a:t>
            </a:r>
            <a:endParaRPr lang="en-US" sz="1200"/>
          </a:p>
        </p:txBody>
      </p:sp>
      <p:sp>
        <p:nvSpPr>
          <p:cNvPr id="8" name="Text 5"/>
          <p:cNvSpPr/>
          <p:nvPr/>
        </p:nvSpPr>
        <p:spPr>
          <a:xfrm>
            <a:off x="5649158" y="5101233"/>
            <a:ext cx="314087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02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5649158" y="5345192"/>
            <a:ext cx="3331964" cy="22860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649158" y="5469374"/>
            <a:ext cx="2157293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Arabic Normalization</a:t>
            </a:r>
            <a:endParaRPr lang="en-US" sz="1450"/>
          </a:p>
        </p:txBody>
      </p:sp>
      <p:sp>
        <p:nvSpPr>
          <p:cNvPr id="11" name="Text 8"/>
          <p:cNvSpPr/>
          <p:nvPr/>
        </p:nvSpPr>
        <p:spPr>
          <a:xfrm>
            <a:off x="5649158" y="5762149"/>
            <a:ext cx="3331964" cy="416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Remove diacritics/Tashkeel, normalize Alef/Taa/Kashida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9084112" y="5101233"/>
            <a:ext cx="314087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03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9084112" y="5345192"/>
            <a:ext cx="3331964" cy="22860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084112" y="5469374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Length Filtering</a:t>
            </a:r>
            <a:endParaRPr lang="en-US" sz="1450"/>
          </a:p>
        </p:txBody>
      </p:sp>
      <p:sp>
        <p:nvSpPr>
          <p:cNvPr id="15" name="Text 12"/>
          <p:cNvSpPr/>
          <p:nvPr/>
        </p:nvSpPr>
        <p:spPr>
          <a:xfrm>
            <a:off x="9084112" y="5762149"/>
            <a:ext cx="3331964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Minimum 10 words per abstract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2214324" y="6398895"/>
            <a:ext cx="314087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04</a:t>
            </a:r>
            <a:endParaRPr lang="en-US" sz="1200"/>
          </a:p>
        </p:txBody>
      </p:sp>
      <p:sp>
        <p:nvSpPr>
          <p:cNvPr id="17" name="Shape 14"/>
          <p:cNvSpPr/>
          <p:nvPr/>
        </p:nvSpPr>
        <p:spPr>
          <a:xfrm>
            <a:off x="2214324" y="6642854"/>
            <a:ext cx="5049322" cy="22860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410439" y="6716236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Stratified Split</a:t>
            </a:r>
            <a:endParaRPr lang="en-US" sz="1450"/>
          </a:p>
        </p:txBody>
      </p:sp>
      <p:sp>
        <p:nvSpPr>
          <p:cNvPr id="19" name="Text 16"/>
          <p:cNvSpPr/>
          <p:nvPr/>
        </p:nvSpPr>
        <p:spPr>
          <a:xfrm>
            <a:off x="7410439" y="7009011"/>
            <a:ext cx="5049322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200">
                <a:solidFill>
                  <a:srgbClr val="D9E1FF"/>
                </a:solidFill>
                <a:latin typeface="Arimo"/>
                <a:ea typeface="Arimo"/>
                <a:cs typeface="Arimo"/>
              </a:rPr>
              <a:t>Train: 1252 (80%), Val: 156 (10%), Test: 157 (10%)</a:t>
            </a:r>
            <a:endParaRPr lang="en-US" sz="12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366635" y="6398895"/>
            <a:ext cx="314087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05</a:t>
            </a:r>
            <a:endParaRPr lang="en-US" sz="1200"/>
          </a:p>
        </p:txBody>
      </p:sp>
      <p:sp>
        <p:nvSpPr>
          <p:cNvPr id="21" name="Shape 18"/>
          <p:cNvSpPr/>
          <p:nvPr/>
        </p:nvSpPr>
        <p:spPr>
          <a:xfrm>
            <a:off x="7366635" y="6642854"/>
            <a:ext cx="5049441" cy="22860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214064" y="6752522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Oversampling</a:t>
            </a:r>
            <a:endParaRPr lang="en-US" sz="1450"/>
          </a:p>
        </p:txBody>
      </p:sp>
      <p:sp>
        <p:nvSpPr>
          <p:cNvPr id="23" name="Text 20"/>
          <p:cNvSpPr/>
          <p:nvPr/>
        </p:nvSpPr>
        <p:spPr>
          <a:xfrm>
            <a:off x="2214064" y="7045297"/>
            <a:ext cx="5049441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Balance minority domains to 313 each (1565 total training samples)</a:t>
            </a:r>
            <a:endParaRPr lang="en-US" sz="1200"/>
          </a:p>
        </p:txBody>
      </p:sp>
      <p:sp>
        <p:nvSpPr>
          <p:cNvPr id="24" name="Text 21"/>
          <p:cNvSpPr/>
          <p:nvPr/>
        </p:nvSpPr>
        <p:spPr>
          <a:xfrm>
            <a:off x="7410439" y="7450733"/>
            <a:ext cx="10201751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200">
                <a:solidFill>
                  <a:srgbClr val="D9E1FF"/>
                </a:solidFill>
                <a:latin typeface="Arimo"/>
                <a:ea typeface="Arimo"/>
                <a:cs typeface="Arimo"/>
              </a:rPr>
              <a:t>Final dataset: 1565 rows after preprocessing.</a:t>
            </a:r>
            <a:endParaRPr lang="en-US" sz="120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FFA3FC-73C4-30E3-0D5B-940C72704364}"/>
              </a:ext>
            </a:extLst>
          </p:cNvPr>
          <p:cNvSpPr/>
          <p:nvPr/>
        </p:nvSpPr>
        <p:spPr>
          <a:xfrm>
            <a:off x="12760036" y="7715012"/>
            <a:ext cx="1766455" cy="444103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212" y="594241"/>
            <a:ext cx="4488299" cy="56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Literature Review</a:t>
            </a:r>
            <a:endParaRPr lang="en-US" sz="3500"/>
          </a:p>
        </p:txBody>
      </p:sp>
      <p:sp>
        <p:nvSpPr>
          <p:cNvPr id="3" name="Shape 1"/>
          <p:cNvSpPr/>
          <p:nvPr/>
        </p:nvSpPr>
        <p:spPr>
          <a:xfrm>
            <a:off x="1121212" y="1459230"/>
            <a:ext cx="4028003" cy="1347073"/>
          </a:xfrm>
          <a:prstGeom prst="roundRect">
            <a:avLst>
              <a:gd name="adj" fmla="val 8146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8352" y="1459230"/>
            <a:ext cx="91440" cy="1347073"/>
          </a:xfrm>
          <a:prstGeom prst="roundRect">
            <a:avLst>
              <a:gd name="adj" fmla="val 31292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03390" y="1672828"/>
            <a:ext cx="224409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ASCAT Dataset</a:t>
            </a:r>
            <a:endParaRPr lang="en-US" sz="1750"/>
          </a:p>
        </p:txBody>
      </p:sp>
      <p:sp>
        <p:nvSpPr>
          <p:cNvPr id="6" name="Text 4"/>
          <p:cNvSpPr/>
          <p:nvPr/>
        </p:nvSpPr>
        <p:spPr>
          <a:xfrm>
            <a:off x="1403390" y="2044541"/>
            <a:ext cx="3532227" cy="54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Sibaee et al. (2026) — source dataset paper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5301139" y="1459230"/>
            <a:ext cx="4028003" cy="1347073"/>
          </a:xfrm>
          <a:prstGeom prst="roundRect">
            <a:avLst>
              <a:gd name="adj" fmla="val 8146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78279" y="1459230"/>
            <a:ext cx="91440" cy="1347073"/>
          </a:xfrm>
          <a:prstGeom prst="roundRect">
            <a:avLst>
              <a:gd name="adj" fmla="val 31292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83317" y="1672828"/>
            <a:ext cx="3114675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Transformer Architecture</a:t>
            </a:r>
            <a:endParaRPr lang="en-US" sz="1750"/>
          </a:p>
        </p:txBody>
      </p:sp>
      <p:sp>
        <p:nvSpPr>
          <p:cNvPr id="10" name="Text 8"/>
          <p:cNvSpPr/>
          <p:nvPr/>
        </p:nvSpPr>
        <p:spPr>
          <a:xfrm>
            <a:off x="5583317" y="2044541"/>
            <a:ext cx="3532227" cy="54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Vaswani et al. (2017) — foundational model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9481066" y="1459230"/>
            <a:ext cx="4028003" cy="1347073"/>
          </a:xfrm>
          <a:prstGeom prst="roundRect">
            <a:avLst>
              <a:gd name="adj" fmla="val 8146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458206" y="1459230"/>
            <a:ext cx="91440" cy="1347073"/>
          </a:xfrm>
          <a:prstGeom prst="roundRect">
            <a:avLst>
              <a:gd name="adj" fmla="val 31292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763244" y="1672828"/>
            <a:ext cx="224409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NLLB Model</a:t>
            </a:r>
            <a:endParaRPr lang="en-US" sz="1750"/>
          </a:p>
        </p:txBody>
      </p:sp>
      <p:sp>
        <p:nvSpPr>
          <p:cNvPr id="14" name="Text 12"/>
          <p:cNvSpPr/>
          <p:nvPr/>
        </p:nvSpPr>
        <p:spPr>
          <a:xfrm>
            <a:off x="9763244" y="2044541"/>
            <a:ext cx="3532227" cy="54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Costa-jussa et al. (2022) — Meta's 200-language MT system</a:t>
            </a:r>
            <a:endParaRPr lang="en-US" sz="1500"/>
          </a:p>
        </p:txBody>
      </p:sp>
      <p:sp>
        <p:nvSpPr>
          <p:cNvPr id="15" name="Shape 13"/>
          <p:cNvSpPr/>
          <p:nvPr/>
        </p:nvSpPr>
        <p:spPr>
          <a:xfrm>
            <a:off x="1121212" y="2958227"/>
            <a:ext cx="4028003" cy="1347073"/>
          </a:xfrm>
          <a:prstGeom prst="roundRect">
            <a:avLst>
              <a:gd name="adj" fmla="val 8146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98352" y="2958227"/>
            <a:ext cx="91440" cy="1347073"/>
          </a:xfrm>
          <a:prstGeom prst="roundRect">
            <a:avLst>
              <a:gd name="adj" fmla="val 31292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03390" y="3171825"/>
            <a:ext cx="224409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mBART</a:t>
            </a:r>
            <a:endParaRPr lang="en-US" sz="1750"/>
          </a:p>
        </p:txBody>
      </p:sp>
      <p:sp>
        <p:nvSpPr>
          <p:cNvPr id="18" name="Text 16"/>
          <p:cNvSpPr/>
          <p:nvPr/>
        </p:nvSpPr>
        <p:spPr>
          <a:xfrm>
            <a:off x="1403390" y="3543538"/>
            <a:ext cx="3532227" cy="54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Tang et al. (2020) — multilingual denoising pre-training</a:t>
            </a:r>
            <a:endParaRPr lang="en-US" sz="1500"/>
          </a:p>
        </p:txBody>
      </p:sp>
      <p:sp>
        <p:nvSpPr>
          <p:cNvPr id="19" name="Shape 17"/>
          <p:cNvSpPr/>
          <p:nvPr/>
        </p:nvSpPr>
        <p:spPr>
          <a:xfrm>
            <a:off x="5301139" y="2958227"/>
            <a:ext cx="4028003" cy="1347073"/>
          </a:xfrm>
          <a:prstGeom prst="roundRect">
            <a:avLst>
              <a:gd name="adj" fmla="val 8146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78279" y="2958227"/>
            <a:ext cx="91440" cy="1347073"/>
          </a:xfrm>
          <a:prstGeom prst="roundRect">
            <a:avLst>
              <a:gd name="adj" fmla="val 31292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83317" y="3171825"/>
            <a:ext cx="224409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Turjuman</a:t>
            </a:r>
            <a:endParaRPr lang="en-US" sz="1750"/>
          </a:p>
        </p:txBody>
      </p:sp>
      <p:sp>
        <p:nvSpPr>
          <p:cNvPr id="22" name="Text 20"/>
          <p:cNvSpPr/>
          <p:nvPr/>
        </p:nvSpPr>
        <p:spPr>
          <a:xfrm>
            <a:off x="5583317" y="3543538"/>
            <a:ext cx="3532227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Nagoudi et al. (2022) — Arabic MT toolkit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1121212" y="4533305"/>
            <a:ext cx="2694265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Arabic MT Challenges</a:t>
            </a:r>
            <a:endParaRPr lang="en-US" sz="1750"/>
          </a:p>
        </p:txBody>
      </p:sp>
      <p:sp>
        <p:nvSpPr>
          <p:cNvPr id="24" name="Text 22"/>
          <p:cNvSpPr/>
          <p:nvPr/>
        </p:nvSpPr>
        <p:spPr>
          <a:xfrm>
            <a:off x="1121212" y="5041821"/>
            <a:ext cx="12387858" cy="1582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5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Morphological richness</a:t>
            </a:r>
            <a:endParaRPr lang="en-US" sz="150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5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Missing diacritics</a:t>
            </a:r>
            <a:endParaRPr lang="en-US" sz="150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5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Mixed-direction text</a:t>
            </a:r>
            <a:endParaRPr lang="en-US" sz="150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5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Scientific terminology gaps</a:t>
            </a:r>
            <a:endParaRPr lang="en-US" sz="150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5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Long-context coherence</a:t>
            </a:r>
            <a:endParaRPr lang="en-US" sz="1500"/>
          </a:p>
        </p:txBody>
      </p:sp>
      <p:sp>
        <p:nvSpPr>
          <p:cNvPr id="25" name="Text 23"/>
          <p:cNvSpPr/>
          <p:nvPr/>
        </p:nvSpPr>
        <p:spPr>
          <a:xfrm>
            <a:off x="1121212" y="6852642"/>
            <a:ext cx="2296835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Evaluation Metrics</a:t>
            </a:r>
            <a:endParaRPr lang="en-US" sz="1750"/>
          </a:p>
        </p:txBody>
      </p:sp>
      <p:sp>
        <p:nvSpPr>
          <p:cNvPr id="26" name="Text 24"/>
          <p:cNvSpPr/>
          <p:nvPr/>
        </p:nvSpPr>
        <p:spPr>
          <a:xfrm>
            <a:off x="1121212" y="7361158"/>
            <a:ext cx="12387858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BLEU (primary), BERTScore (semantic quality)</a:t>
            </a:r>
            <a:endParaRPr lang="en-US" sz="15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799CF7-0B6A-E680-5A94-B9666C5D0FA9}"/>
              </a:ext>
            </a:extLst>
          </p:cNvPr>
          <p:cNvSpPr/>
          <p:nvPr/>
        </p:nvSpPr>
        <p:spPr>
          <a:xfrm>
            <a:off x="12760036" y="7715012"/>
            <a:ext cx="1766455" cy="444103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49874" y="538163"/>
            <a:ext cx="7331631" cy="494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Proposed Pipeline &amp; Methodology</a:t>
            </a:r>
            <a:endParaRPr lang="en-US" sz="31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874" y="1269683"/>
            <a:ext cx="841534" cy="1009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09637" y="1437918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</a:t>
            </a:r>
            <a:endParaRPr lang="en-US" sz="1550"/>
          </a:p>
        </p:txBody>
      </p:sp>
      <p:sp>
        <p:nvSpPr>
          <p:cNvPr id="5" name="Text 2"/>
          <p:cNvSpPr/>
          <p:nvPr/>
        </p:nvSpPr>
        <p:spPr>
          <a:xfrm>
            <a:off x="2809637" y="1756291"/>
            <a:ext cx="9970770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>
                <a:solidFill>
                  <a:srgbClr val="D9E1FF"/>
                </a:solidFill>
                <a:latin typeface="Arimo"/>
                <a:ea typeface="Arimo"/>
                <a:cs typeface="Arimo"/>
              </a:rPr>
              <a:t>ASCAT 1565 pairs</a:t>
            </a:r>
            <a:endParaRPr lang="en-US" sz="1300">
              <a:latin typeface="Arimo"/>
              <a:ea typeface="Arimo"/>
              <a:cs typeface="Arimo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874" y="2279571"/>
            <a:ext cx="841534" cy="10098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809637" y="2447806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Preprocessing</a:t>
            </a:r>
            <a:endParaRPr lang="en-US" sz="1550"/>
          </a:p>
        </p:txBody>
      </p:sp>
      <p:sp>
        <p:nvSpPr>
          <p:cNvPr id="8" name="Text 4"/>
          <p:cNvSpPr/>
          <p:nvPr/>
        </p:nvSpPr>
        <p:spPr>
          <a:xfrm>
            <a:off x="2809637" y="2766179"/>
            <a:ext cx="9970770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Clean + normalize + balance</a:t>
            </a:r>
            <a:endParaRPr lang="en-US" sz="13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9874" y="3289459"/>
            <a:ext cx="841534" cy="10098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09637" y="3457694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Baseline Model</a:t>
            </a:r>
            <a:endParaRPr lang="en-US" sz="1550"/>
          </a:p>
        </p:txBody>
      </p:sp>
      <p:sp>
        <p:nvSpPr>
          <p:cNvPr id="11" name="Text 6"/>
          <p:cNvSpPr/>
          <p:nvPr/>
        </p:nvSpPr>
        <p:spPr>
          <a:xfrm>
            <a:off x="2809637" y="3776067"/>
            <a:ext cx="9970770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MarianMT opus-mt-en-ar (zero-shot)</a:t>
            </a:r>
            <a:endParaRPr lang="en-US" sz="130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9874" y="4299347"/>
            <a:ext cx="841534" cy="10098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809637" y="4467582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Advanced Model</a:t>
            </a:r>
            <a:endParaRPr lang="en-US" sz="1550"/>
          </a:p>
        </p:txBody>
      </p:sp>
      <p:sp>
        <p:nvSpPr>
          <p:cNvPr id="14" name="Text 8"/>
          <p:cNvSpPr/>
          <p:nvPr/>
        </p:nvSpPr>
        <p:spPr>
          <a:xfrm>
            <a:off x="2809637" y="4785955"/>
            <a:ext cx="9970770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Fine-tune NLLB-200-distilled-600M on balanced data</a:t>
            </a:r>
            <a:endParaRPr lang="en-US" sz="130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9874" y="5309235"/>
            <a:ext cx="841534" cy="10098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809637" y="5477470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Evaluation</a:t>
            </a:r>
            <a:endParaRPr lang="en-US" sz="1550"/>
          </a:p>
        </p:txBody>
      </p:sp>
      <p:sp>
        <p:nvSpPr>
          <p:cNvPr id="17" name="Text 10"/>
          <p:cNvSpPr/>
          <p:nvPr/>
        </p:nvSpPr>
        <p:spPr>
          <a:xfrm>
            <a:off x="2809637" y="5795843"/>
            <a:ext cx="9970770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BLEU + BERTScore + per-domain analysis</a:t>
            </a:r>
            <a:endParaRPr lang="en-US" sz="130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49874" y="6319123"/>
            <a:ext cx="841534" cy="10098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809637" y="6487358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Error Analysis</a:t>
            </a:r>
            <a:endParaRPr lang="en-US" sz="1550"/>
          </a:p>
        </p:txBody>
      </p:sp>
      <p:sp>
        <p:nvSpPr>
          <p:cNvPr id="20" name="Text 12"/>
          <p:cNvSpPr/>
          <p:nvPr/>
        </p:nvSpPr>
        <p:spPr>
          <a:xfrm>
            <a:off x="2809637" y="6805732"/>
            <a:ext cx="9970770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Terminology accuracy, structural fidelity, domain-specific failures</a:t>
            </a:r>
            <a:endParaRPr lang="en-US" sz="1300"/>
          </a:p>
        </p:txBody>
      </p:sp>
      <p:sp>
        <p:nvSpPr>
          <p:cNvPr id="21" name="Text 13"/>
          <p:cNvSpPr/>
          <p:nvPr/>
        </p:nvSpPr>
        <p:spPr>
          <a:xfrm>
            <a:off x="1849874" y="7462123"/>
            <a:ext cx="10930533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Goal:</a:t>
            </a:r>
            <a:r>
              <a:rPr lang="en-US" sz="130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Compare zero-shot vs. fine-tuned performance and identify where scientific MT fails for Arabic.</a:t>
            </a:r>
            <a:endParaRPr lang="en-US" sz="13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B9560E-47F1-1B99-4272-54246AC4A456}"/>
              </a:ext>
            </a:extLst>
          </p:cNvPr>
          <p:cNvSpPr/>
          <p:nvPr/>
        </p:nvSpPr>
        <p:spPr>
          <a:xfrm>
            <a:off x="12760036" y="7715012"/>
            <a:ext cx="1766455" cy="444103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revision>1</cp:revision>
  <dcterms:created xsi:type="dcterms:W3CDTF">2026-04-26T18:25:52Z</dcterms:created>
  <dcterms:modified xsi:type="dcterms:W3CDTF">2026-04-29T14:31:18Z</dcterms:modified>
</cp:coreProperties>
</file>